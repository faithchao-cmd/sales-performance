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9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r>
              <a:rPr lang="en-US" sz="1300" b="1" kern="0" spc="200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STORY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sales performance evenly distributed across all regions?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7863840" cy="80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 smtClean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profits made across the five regions is </a:t>
            </a:r>
            <a:r>
              <a:rPr lang="en-US" sz="1600" dirty="0" smtClean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$127M </a:t>
            </a:r>
            <a:r>
              <a:rPr lang="en-US" sz="1600" dirty="0" smtClean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whereby </a:t>
            </a:r>
            <a:r>
              <a:rPr lang="en-US" sz="1600" dirty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600" dirty="0" smtClean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difference is 18% between the highest and the lowest , without one region dramatically underperforming.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0E3B41"/>
          </a:solidFill>
          <a:ln w="12700">
            <a:solidFill>
              <a:srgbClr val="0E3B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51945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mbria" pitchFamily="34" charset="0"/>
                <a:ea typeface="Cambria" pitchFamily="34" charset="-122"/>
              </a:rPr>
              <a:t>50K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7076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448056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0E3B41"/>
          </a:solidFill>
          <a:ln w="12700">
            <a:solidFill>
              <a:srgbClr val="0E3B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457473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mbria" pitchFamily="34" charset="0"/>
                <a:ea typeface="Cambria" pitchFamily="34" charset="-122"/>
              </a:rPr>
              <a:t>1.27M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526053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448056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0E3B41"/>
          </a:solidFill>
          <a:ln w="12700">
            <a:solidFill>
              <a:srgbClr val="0E3B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4617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mbria" pitchFamily="34" charset="0"/>
                <a:ea typeface="Cambria" pitchFamily="34" charset="-122"/>
              </a:rPr>
              <a:t>3.19M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5257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818120" y="1691640"/>
            <a:ext cx="3794760" cy="4507992"/>
          </a:xfrm>
          <a:prstGeom prst="roundRect">
            <a:avLst>
              <a:gd name="adj" fmla="val 192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965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E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TAKEAWAY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3774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If one region contributes substantially more than others, the business may be exposed to regional risks.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411480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 smtClean="0">
                <a:solidFill>
                  <a:srgbClr val="E3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tiny difference in percentage </a:t>
            </a:r>
            <a:r>
              <a:rPr lang="en-US" sz="1300" dirty="0">
                <a:solidFill>
                  <a:srgbClr val="E3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r>
              <a:rPr lang="en-US" sz="1300" dirty="0" smtClean="0">
                <a:solidFill>
                  <a:srgbClr val="E3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</a:t>
            </a:r>
            <a:r>
              <a:rPr lang="en-US" sz="1300" dirty="0">
                <a:solidFill>
                  <a:srgbClr val="E3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300" dirty="0" smtClean="0">
                <a:solidFill>
                  <a:srgbClr val="E3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r>
              <a:rPr lang="en-US" sz="1300" dirty="0" smtClean="0">
                <a:solidFill>
                  <a:srgbClr val="E3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business has a more balanced geographical contribution.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07" y="1226251"/>
            <a:ext cx="5489280" cy="49733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EVIDENCE </a:t>
            </a: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0B2E33"/>
                </a:solidFill>
                <a:latin typeface="Cambria" pitchFamily="34" charset="0"/>
                <a:ea typeface="Cambria" pitchFamily="34" charset="-122"/>
              </a:rPr>
              <a:t>The balance holds even during the holiday surge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818120" y="1691640"/>
            <a:ext cx="3794760" cy="4507992"/>
          </a:xfrm>
          <a:prstGeom prst="roundRect">
            <a:avLst>
              <a:gd name="adj" fmla="val 192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965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5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TAKEAWAY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3774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Every region gets 23 – 25 % f its yearly revenue from  November t December, the holiday is not isolated to one region.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9319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dirty="0" smtClean="0">
                <a:solidFill>
                  <a:srgbClr val="E9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region benefited disproportionately from the year-end surge  , that  would be a real gap. </a:t>
            </a:r>
            <a:r>
              <a:rPr lang="en-US" sz="1300" dirty="0" smtClean="0">
                <a:solidFill>
                  <a:srgbClr val="E9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seasonal pattern lift all five regions almost identically, reinforcing that regional performance really performance really is even, not just on average  but across.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71" y="2024870"/>
            <a:ext cx="5909480" cy="34478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200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</a:t>
            </a: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1300" b="1" kern="0" spc="200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 2 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0B2E33"/>
                </a:solidFill>
                <a:latin typeface="Cambria" pitchFamily="34" charset="0"/>
                <a:ea typeface="Cambria" pitchFamily="34" charset="-122"/>
              </a:rPr>
              <a:t>The real concentration risk isn’t geographical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818120" y="1691640"/>
            <a:ext cx="3794760" cy="4507992"/>
          </a:xfrm>
          <a:prstGeom prst="roundRect">
            <a:avLst>
              <a:gd name="adj" fmla="val 1928"/>
            </a:avLst>
          </a:prstGeom>
          <a:solidFill>
            <a:srgbClr val="01684F"/>
          </a:solidFill>
          <a:ln w="12700">
            <a:solidFill>
              <a:srgbClr val="0168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965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TAKEAWAY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3774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Laptop Pro 15 alone drives 46% of total revenue, the top 2 product is 61%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411480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dirty="0" smtClean="0">
                <a:solidFill>
                  <a:srgbClr val="E9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</a:t>
            </a:r>
            <a:r>
              <a:rPr lang="en-US" sz="1300" dirty="0">
                <a:solidFill>
                  <a:srgbClr val="E9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</a:t>
            </a:r>
            <a:r>
              <a:rPr lang="en-US" sz="1300" dirty="0" smtClean="0">
                <a:solidFill>
                  <a:srgbClr val="E9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</a:t>
            </a:r>
            <a:r>
              <a:rPr lang="en-US" sz="1300" dirty="0">
                <a:solidFill>
                  <a:srgbClr val="E9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</a:t>
            </a:r>
            <a:r>
              <a:rPr lang="en-US" sz="1300" dirty="0" smtClean="0">
                <a:solidFill>
                  <a:srgbClr val="E9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00" dirty="0">
                <a:solidFill>
                  <a:srgbClr val="E9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demand for laptop Pro 15 drops, no single region absorbs </a:t>
            </a:r>
            <a:r>
              <a:rPr lang="en-US" sz="1300" dirty="0" smtClean="0">
                <a:solidFill>
                  <a:srgbClr val="E9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</a:t>
            </a:r>
            <a:r>
              <a:rPr lang="en-US" sz="1300" dirty="0">
                <a:solidFill>
                  <a:srgbClr val="E9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evenly. Every region  is simultaneously  exposed  since they all sell the same product.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3" y="1965960"/>
            <a:ext cx="6114197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Diversify by product , not by region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Keep regional strategy uniform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seasonal timing are consistent across all 5 regions , so region-specific interventions aren’t  needed right now</a:t>
            </a:r>
            <a:r>
              <a:rPr lang="en-US" sz="1400" dirty="0" smtClean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00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Reduce reliance on </a:t>
            </a: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L</a:t>
            </a:r>
            <a:r>
              <a:rPr lang="en-US" sz="19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aptop Pro 15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703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46% of revenue  tied to one product consider promoting mid-tier products to spread risks</a:t>
            </a:r>
            <a:r>
              <a:rPr lang="en-US" sz="1400" dirty="0" smtClean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312</Words>
  <Application>Microsoft Office PowerPoint</Application>
  <PresentationFormat>Widescreen</PresentationFormat>
  <Paragraphs>41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27</cp:revision>
  <dcterms:created xsi:type="dcterms:W3CDTF">2026-09-11T10:31:52Z</dcterms:created>
  <dcterms:modified xsi:type="dcterms:W3CDTF">2026-09-11T16:46:30Z</dcterms:modified>
</cp:coreProperties>
</file>